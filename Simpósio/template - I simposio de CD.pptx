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+Yw4QoVff2+EJWwQmQm20Rskq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46893fee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e46893feea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46893fe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46893feea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6893fee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46893feea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46893fee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e46893fee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penai.com?utm_source=chatgpt.com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imposio_autalizado copy.png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0509" y="256032"/>
            <a:ext cx="3179736" cy="211637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544975" y="2388075"/>
            <a:ext cx="9546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00285A"/>
                </a:solidFill>
              </a:rPr>
              <a:t>Formação Multidisciplinar em Ciência de Dados: Avaliação de Projetos Integradores no Desenvolvimento de Competências Profissionais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28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44577" y="4131618"/>
            <a:ext cx="5340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4C99"/>
                </a:solidFill>
              </a:rPr>
              <a:t>Ana Elisa Rubinato Cavalheiro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4C99"/>
                </a:solidFill>
              </a:rPr>
              <a:t>Dilermando Piva Junior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4C99"/>
                </a:solidFill>
              </a:rPr>
              <a:t>Rosana Helena Nunes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4C99"/>
                </a:solidFill>
              </a:rPr>
              <a:t>Hélio Rubens Jacintho Pereira Junior 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44574" y="5518700"/>
            <a:ext cx="74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28B22"/>
                </a:solidFill>
                <a:latin typeface="Arial"/>
                <a:ea typeface="Arial"/>
                <a:cs typeface="Arial"/>
                <a:sym typeface="Arial"/>
              </a:rPr>
              <a:t>FATEC </a:t>
            </a:r>
            <a:r>
              <a:rPr b="1" lang="pt-BR" sz="1800">
                <a:solidFill>
                  <a:srgbClr val="228B22"/>
                </a:solidFill>
              </a:rPr>
              <a:t>- </a:t>
            </a:r>
            <a:r>
              <a:rPr b="1" lang="pt-BR" sz="1800">
                <a:solidFill>
                  <a:srgbClr val="228B22"/>
                </a:solidFill>
                <a:latin typeface="Arial"/>
                <a:ea typeface="Arial"/>
                <a:cs typeface="Arial"/>
                <a:sym typeface="Arial"/>
              </a:rPr>
              <a:t>Benedic</a:t>
            </a:r>
            <a:r>
              <a:rPr b="1" lang="pt-BR" sz="1800">
                <a:solidFill>
                  <a:srgbClr val="228B22"/>
                </a:solidFill>
              </a:rPr>
              <a:t>to Pagliato</a:t>
            </a:r>
            <a:r>
              <a:rPr lang="pt-BR" sz="11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rgbClr val="228B22"/>
                </a:solidFill>
                <a:latin typeface="Arial"/>
                <a:ea typeface="Arial"/>
                <a:cs typeface="Arial"/>
                <a:sym typeface="Arial"/>
              </a:rPr>
              <a:t> • C</a:t>
            </a:r>
            <a:r>
              <a:rPr b="1" lang="pt-BR" sz="1800">
                <a:solidFill>
                  <a:srgbClr val="228B22"/>
                </a:solidFill>
              </a:rPr>
              <a:t>iência de Dados</a:t>
            </a:r>
            <a:r>
              <a:rPr b="1" lang="pt-BR" sz="1800">
                <a:solidFill>
                  <a:srgbClr val="228B22"/>
                </a:solidFill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b="1" lang="pt-BR" sz="1800">
                <a:solidFill>
                  <a:srgbClr val="228B22"/>
                </a:solidFill>
              </a:rPr>
              <a:t>Votorantim-SP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44577" y="5951499"/>
            <a:ext cx="69964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8C00"/>
                </a:solidFill>
                <a:latin typeface="Arial"/>
                <a:ea typeface="Arial"/>
                <a:cs typeface="Arial"/>
                <a:sym typeface="Arial"/>
              </a:rPr>
              <a:t>I Simpósio de Ciência de Dados das Fatecs • Santos/SP • 2026</a:t>
            </a:r>
            <a:endParaRPr/>
          </a:p>
        </p:txBody>
      </p:sp>
      <p:pic>
        <p:nvPicPr>
          <p:cNvPr descr="LOGO-SP-PT-HORIZONTAL.png"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" y="127275"/>
            <a:ext cx="3710496" cy="1518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93" name="Google Shape;9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4519" y="487641"/>
            <a:ext cx="2277510" cy="1199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7656" y="378430"/>
            <a:ext cx="1513238" cy="997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40080" y="457200"/>
            <a:ext cx="21098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40080" y="1026352"/>
            <a:ext cx="6746001" cy="512312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218479" y="1080702"/>
            <a:ext cx="5047410" cy="4769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1. Introdução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2. Objetivos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3. Fundamentação Teórica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4. Metodologia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5. Resultados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6. Considerações Finais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imposio_autalizado copy.png"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522" y="376147"/>
            <a:ext cx="3839304" cy="2555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3300" y="3079067"/>
            <a:ext cx="2514737" cy="1324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107" name="Google Shape;10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18172" y="5294398"/>
            <a:ext cx="3710496" cy="1518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23292" y="4479007"/>
            <a:ext cx="1668565" cy="1100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40079" y="1280160"/>
            <a:ext cx="9028577" cy="473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914399" y="1645920"/>
            <a:ext cx="79599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Expansão da Ciência de Dados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Formação interdisciplinar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Integração entre diferentes áreas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Projetos Integradores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Desenvolvimento de competências</a:t>
            </a:r>
            <a:endParaRPr sz="2200">
              <a:solidFill>
                <a:srgbClr val="282828"/>
              </a:solidFill>
            </a:endParaRPr>
          </a:p>
        </p:txBody>
      </p:sp>
      <p:pic>
        <p:nvPicPr>
          <p:cNvPr descr="logo_simposio_autalizado copy.png"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3604" y="330339"/>
            <a:ext cx="2137238" cy="1422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120" name="Google Shape;1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8656" y="5452200"/>
            <a:ext cx="2627120" cy="10754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121" name="Google Shape;12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18857" y="2329489"/>
            <a:ext cx="2031985" cy="107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7106" y="3787456"/>
            <a:ext cx="1394639" cy="1044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48640" y="1411387"/>
            <a:ext cx="9120016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796925" y="1866195"/>
            <a:ext cx="84843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282828"/>
                </a:solidFill>
              </a:rPr>
              <a:t>Analisar a evolução das competências em Ciência de Dados por meio dos Projetos Integradores. </a:t>
            </a:r>
            <a:endParaRPr/>
          </a:p>
        </p:txBody>
      </p:sp>
      <p:pic>
        <p:nvPicPr>
          <p:cNvPr descr="logo_simposio_autalizado copy.png"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3604" y="330339"/>
            <a:ext cx="2137238" cy="1422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134" name="Google Shape;1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8857" y="2329489"/>
            <a:ext cx="2031985" cy="107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7106" y="3787456"/>
            <a:ext cx="1394639" cy="10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136" name="Google Shape;13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8656" y="5452200"/>
            <a:ext cx="2627120" cy="1075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548641" y="1280160"/>
            <a:ext cx="9344867" cy="49586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914400" y="1645920"/>
            <a:ext cx="82296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Pesquisa qualitativa e descritiva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Análise documental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Portfólio Integrador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Projetos Integradores do 1º ao 6º semestre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Análise da evolução das competências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Ferramentas e tecnologias aplicadas</a:t>
            </a:r>
            <a:endParaRPr/>
          </a:p>
        </p:txBody>
      </p:sp>
      <p:pic>
        <p:nvPicPr>
          <p:cNvPr descr="logo_simposio_autalizado copy.png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3604" y="330339"/>
            <a:ext cx="2137238" cy="1422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8857" y="2329489"/>
            <a:ext cx="2031985" cy="107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7106" y="3787456"/>
            <a:ext cx="1394639" cy="10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150" name="Google Shape;15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8656" y="5452200"/>
            <a:ext cx="2627120" cy="1075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40080" y="1280160"/>
            <a:ext cx="9263921" cy="4599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914399" y="1645920"/>
            <a:ext cx="9264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282828"/>
                </a:solidFill>
              </a:rPr>
              <a:t>Evolução dos Projetos Integradores </a:t>
            </a:r>
            <a:endParaRPr sz="2200">
              <a:solidFill>
                <a:srgbClr val="282828"/>
              </a:solidFill>
            </a:endParaRPr>
          </a:p>
        </p:txBody>
      </p:sp>
      <p:pic>
        <p:nvPicPr>
          <p:cNvPr descr="logo_simposio_autalizado copy.png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3604" y="330339"/>
            <a:ext cx="2137238" cy="1422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8857" y="2329489"/>
            <a:ext cx="2031985" cy="107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7106" y="3787456"/>
            <a:ext cx="1394639" cy="10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164" name="Google Shape;16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8656" y="5452200"/>
            <a:ext cx="2627120" cy="107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95463" y="2278687"/>
            <a:ext cx="3923312" cy="310530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166" name="Google Shape;166;p6"/>
          <p:cNvSpPr txBox="1"/>
          <p:nvPr/>
        </p:nvSpPr>
        <p:spPr>
          <a:xfrm>
            <a:off x="1494100" y="5556625"/>
            <a:ext cx="714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Fonte: Projeto Integrador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46893feea_0_33"/>
          <p:cNvSpPr/>
          <p:nvPr/>
        </p:nvSpPr>
        <p:spPr>
          <a:xfrm>
            <a:off x="0" y="0"/>
            <a:ext cx="12189000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46893feea_0_33"/>
          <p:cNvSpPr/>
          <p:nvPr/>
        </p:nvSpPr>
        <p:spPr>
          <a:xfrm>
            <a:off x="0" y="6656832"/>
            <a:ext cx="12189000" cy="201300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46893feea_0_33"/>
          <p:cNvSpPr/>
          <p:nvPr/>
        </p:nvSpPr>
        <p:spPr>
          <a:xfrm>
            <a:off x="0" y="228600"/>
            <a:ext cx="13710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46893feea_0_33"/>
          <p:cNvSpPr txBox="1"/>
          <p:nvPr/>
        </p:nvSpPr>
        <p:spPr>
          <a:xfrm>
            <a:off x="548640" y="457200"/>
            <a:ext cx="731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/>
          </a:p>
        </p:txBody>
      </p:sp>
      <p:sp>
        <p:nvSpPr>
          <p:cNvPr id="175" name="Google Shape;175;g3e46893feea_0_33"/>
          <p:cNvSpPr/>
          <p:nvPr/>
        </p:nvSpPr>
        <p:spPr>
          <a:xfrm>
            <a:off x="640080" y="1280160"/>
            <a:ext cx="9264000" cy="459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imposio_autalizado copy.png" id="176" name="Google Shape;176;g3e46893feea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3604" y="330339"/>
            <a:ext cx="2137237" cy="1422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177" name="Google Shape;177;g3e46893feea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8857" y="2329489"/>
            <a:ext cx="2031985" cy="107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e46893feea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7106" y="3787456"/>
            <a:ext cx="1394639" cy="10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179" name="Google Shape;179;g3e46893feea_0_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8656" y="5452200"/>
            <a:ext cx="2627120" cy="107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e46893feea_0_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2050" y="1543275"/>
            <a:ext cx="7978912" cy="3798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181" name="Google Shape;181;g3e46893feea_0_33"/>
          <p:cNvSpPr txBox="1"/>
          <p:nvPr/>
        </p:nvSpPr>
        <p:spPr>
          <a:xfrm>
            <a:off x="1494100" y="5556625"/>
            <a:ext cx="714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Fonte: Projeto Integrador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46893feea_0_62"/>
          <p:cNvSpPr/>
          <p:nvPr/>
        </p:nvSpPr>
        <p:spPr>
          <a:xfrm>
            <a:off x="0" y="0"/>
            <a:ext cx="12189000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e46893feea_0_62"/>
          <p:cNvSpPr/>
          <p:nvPr/>
        </p:nvSpPr>
        <p:spPr>
          <a:xfrm>
            <a:off x="0" y="6656832"/>
            <a:ext cx="12189000" cy="201300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e46893feea_0_62"/>
          <p:cNvSpPr/>
          <p:nvPr/>
        </p:nvSpPr>
        <p:spPr>
          <a:xfrm>
            <a:off x="0" y="228600"/>
            <a:ext cx="13710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46893feea_0_62"/>
          <p:cNvSpPr txBox="1"/>
          <p:nvPr/>
        </p:nvSpPr>
        <p:spPr>
          <a:xfrm>
            <a:off x="548640" y="457200"/>
            <a:ext cx="731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/>
          </a:p>
        </p:txBody>
      </p:sp>
      <p:sp>
        <p:nvSpPr>
          <p:cNvPr id="190" name="Google Shape;190;g3e46893feea_0_62"/>
          <p:cNvSpPr/>
          <p:nvPr/>
        </p:nvSpPr>
        <p:spPr>
          <a:xfrm>
            <a:off x="640080" y="1280160"/>
            <a:ext cx="9264000" cy="459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imposio_autalizado copy.png" id="191" name="Google Shape;191;g3e46893feea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3604" y="330339"/>
            <a:ext cx="2137237" cy="1422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192" name="Google Shape;192;g3e46893feea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8857" y="2329489"/>
            <a:ext cx="2031985" cy="107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e46893feea_0_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7106" y="3787456"/>
            <a:ext cx="1394639" cy="10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194" name="Google Shape;194;g3e46893feea_0_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8656" y="5452200"/>
            <a:ext cx="2627120" cy="107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e46893feea_0_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2138" y="1592550"/>
            <a:ext cx="7226425" cy="39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e46893feea_0_62"/>
          <p:cNvSpPr txBox="1"/>
          <p:nvPr/>
        </p:nvSpPr>
        <p:spPr>
          <a:xfrm>
            <a:off x="1494100" y="5556625"/>
            <a:ext cx="714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Fonte: Projeto Integrador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46893feea_0_48"/>
          <p:cNvSpPr/>
          <p:nvPr/>
        </p:nvSpPr>
        <p:spPr>
          <a:xfrm>
            <a:off x="0" y="0"/>
            <a:ext cx="12189000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e46893feea_0_48"/>
          <p:cNvSpPr/>
          <p:nvPr/>
        </p:nvSpPr>
        <p:spPr>
          <a:xfrm>
            <a:off x="0" y="6656832"/>
            <a:ext cx="12189000" cy="201300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e46893feea_0_48"/>
          <p:cNvSpPr/>
          <p:nvPr/>
        </p:nvSpPr>
        <p:spPr>
          <a:xfrm>
            <a:off x="0" y="228600"/>
            <a:ext cx="13710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e46893feea_0_48"/>
          <p:cNvSpPr txBox="1"/>
          <p:nvPr/>
        </p:nvSpPr>
        <p:spPr>
          <a:xfrm>
            <a:off x="548640" y="457200"/>
            <a:ext cx="731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/>
          </a:p>
        </p:txBody>
      </p:sp>
      <p:sp>
        <p:nvSpPr>
          <p:cNvPr id="205" name="Google Shape;205;g3e46893feea_0_48"/>
          <p:cNvSpPr/>
          <p:nvPr/>
        </p:nvSpPr>
        <p:spPr>
          <a:xfrm>
            <a:off x="640080" y="1280160"/>
            <a:ext cx="9264000" cy="459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imposio_autalizado copy.png" id="206" name="Google Shape;206;g3e46893feea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3604" y="330339"/>
            <a:ext cx="2137237" cy="1422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207" name="Google Shape;207;g3e46893feea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8857" y="2329489"/>
            <a:ext cx="2031985" cy="107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e46893feea_0_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7106" y="3787456"/>
            <a:ext cx="1394639" cy="10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209" name="Google Shape;209;g3e46893feea_0_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8656" y="5452200"/>
            <a:ext cx="2627120" cy="107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e46893feea_0_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5663" y="1662238"/>
            <a:ext cx="7712825" cy="383512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e46893feea_0_48"/>
          <p:cNvSpPr txBox="1"/>
          <p:nvPr/>
        </p:nvSpPr>
        <p:spPr>
          <a:xfrm>
            <a:off x="1494100" y="5556625"/>
            <a:ext cx="714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Fonte: Projeto Integrador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46893feea_0_13"/>
          <p:cNvSpPr/>
          <p:nvPr/>
        </p:nvSpPr>
        <p:spPr>
          <a:xfrm>
            <a:off x="0" y="0"/>
            <a:ext cx="12189000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e46893feea_0_13"/>
          <p:cNvSpPr/>
          <p:nvPr/>
        </p:nvSpPr>
        <p:spPr>
          <a:xfrm>
            <a:off x="0" y="6656832"/>
            <a:ext cx="12189000" cy="201300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e46893feea_0_13"/>
          <p:cNvSpPr/>
          <p:nvPr/>
        </p:nvSpPr>
        <p:spPr>
          <a:xfrm>
            <a:off x="0" y="228600"/>
            <a:ext cx="13710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e46893feea_0_13"/>
          <p:cNvSpPr txBox="1"/>
          <p:nvPr/>
        </p:nvSpPr>
        <p:spPr>
          <a:xfrm>
            <a:off x="548640" y="457200"/>
            <a:ext cx="731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/>
          </a:p>
        </p:txBody>
      </p:sp>
      <p:sp>
        <p:nvSpPr>
          <p:cNvPr id="220" name="Google Shape;220;g3e46893feea_0_13"/>
          <p:cNvSpPr/>
          <p:nvPr/>
        </p:nvSpPr>
        <p:spPr>
          <a:xfrm>
            <a:off x="640080" y="1280160"/>
            <a:ext cx="9264000" cy="459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e46893feea_0_13"/>
          <p:cNvSpPr txBox="1"/>
          <p:nvPr/>
        </p:nvSpPr>
        <p:spPr>
          <a:xfrm>
            <a:off x="914399" y="1645920"/>
            <a:ext cx="9264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rgbClr val="282828"/>
                </a:solidFill>
              </a:rPr>
              <a:t>Desenvolvimento de Competências </a:t>
            </a:r>
            <a:endParaRPr sz="2200">
              <a:solidFill>
                <a:srgbClr val="282828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Aplicação na Bioinformática </a:t>
            </a:r>
            <a:endParaRPr sz="2200">
              <a:solidFill>
                <a:srgbClr val="282828"/>
              </a:solidFill>
            </a:endParaRPr>
          </a:p>
        </p:txBody>
      </p:sp>
      <p:pic>
        <p:nvPicPr>
          <p:cNvPr descr="logo_simposio_autalizado copy.png" id="222" name="Google Shape;222;g3e46893feea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3604" y="330339"/>
            <a:ext cx="2137237" cy="1422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223" name="Google Shape;223;g3e46893feea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8857" y="2329489"/>
            <a:ext cx="2031985" cy="107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e46893feea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7106" y="3787456"/>
            <a:ext cx="1394639" cy="10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225" name="Google Shape;225;g3e46893feea_0_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8656" y="5452200"/>
            <a:ext cx="2627120" cy="107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e46893feea_0_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1675" y="2117925"/>
            <a:ext cx="3411300" cy="313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e46893feea_0_13"/>
          <p:cNvSpPr txBox="1"/>
          <p:nvPr/>
        </p:nvSpPr>
        <p:spPr>
          <a:xfrm>
            <a:off x="6061675" y="5250325"/>
            <a:ext cx="364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 visual desenvolvido com auxílio do ChatGPT (OpenAI).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CONSIDERAÇÕES FINAIS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548640" y="1106992"/>
            <a:ext cx="8790232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899409" y="1495327"/>
            <a:ext cx="78399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Evolução acadêmica e profissional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Competências técnicas e analíticas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Aplicação prática dos conhecimentos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Integração multidisciplinar</a:t>
            </a:r>
            <a:endParaRPr sz="2200">
              <a:solidFill>
                <a:srgbClr val="282828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Char char="•"/>
            </a:pPr>
            <a:r>
              <a:rPr lang="pt-BR" sz="2200">
                <a:solidFill>
                  <a:srgbClr val="282828"/>
                </a:solidFill>
              </a:rPr>
              <a:t>Contribuição dos Projetos Integradores</a:t>
            </a:r>
            <a:endParaRPr sz="2200">
              <a:solidFill>
                <a:srgbClr val="282828"/>
              </a:solidFill>
            </a:endParaRPr>
          </a:p>
        </p:txBody>
      </p:sp>
      <p:pic>
        <p:nvPicPr>
          <p:cNvPr descr="logo_simposio_autalizado copy.png" id="238" name="Google Shape;2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3604" y="330339"/>
            <a:ext cx="2137238" cy="1422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tec_ra_baixada_santista_baixada_santista_rubens_lara_cor.png" id="239" name="Google Shape;2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8857" y="2329489"/>
            <a:ext cx="2031985" cy="107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7106" y="3787456"/>
            <a:ext cx="1394639" cy="10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241" name="Google Shape;24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8656" y="5452200"/>
            <a:ext cx="2627120" cy="1075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548640" y="457200"/>
            <a:ext cx="27574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285A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b="1" sz="2800">
              <a:solidFill>
                <a:srgbClr val="0028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48640" y="1106992"/>
            <a:ext cx="9389839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899409" y="1495327"/>
            <a:ext cx="78399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>
                <a:solidFill>
                  <a:schemeClr val="dk1"/>
                </a:solidFill>
              </a:rPr>
              <a:t>BACICH, L.; MORAN, J. </a:t>
            </a:r>
            <a:r>
              <a:rPr i="1" lang="pt-BR" sz="2200">
                <a:solidFill>
                  <a:schemeClr val="dk1"/>
                </a:solidFill>
              </a:rPr>
              <a:t>Metodologias Ativas para uma Educação Inovadora</a:t>
            </a:r>
            <a:r>
              <a:rPr lang="pt-BR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>
                <a:solidFill>
                  <a:schemeClr val="dk1"/>
                </a:solidFill>
              </a:rPr>
              <a:t>PRESSMAN, R. </a:t>
            </a:r>
            <a:r>
              <a:rPr i="1" lang="pt-BR" sz="2200">
                <a:solidFill>
                  <a:schemeClr val="dk1"/>
                </a:solidFill>
              </a:rPr>
              <a:t>Engenharia de Software</a:t>
            </a:r>
            <a:r>
              <a:rPr lang="pt-BR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>
                <a:solidFill>
                  <a:schemeClr val="dk1"/>
                </a:solidFill>
              </a:rPr>
              <a:t>HAN, J.; KAMBER, M.; PEI, J. </a:t>
            </a:r>
            <a:r>
              <a:rPr i="1" lang="pt-BR" sz="2200">
                <a:solidFill>
                  <a:schemeClr val="dk1"/>
                </a:solidFill>
              </a:rPr>
              <a:t>Data Mining: Concepts and Techniques</a:t>
            </a:r>
            <a:r>
              <a:rPr lang="pt-BR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>
                <a:solidFill>
                  <a:schemeClr val="dk1"/>
                </a:solidFill>
              </a:rPr>
              <a:t>OPENAI. </a:t>
            </a:r>
            <a:r>
              <a:rPr i="1" lang="pt-BR" sz="2200">
                <a:solidFill>
                  <a:schemeClr val="dk1"/>
                </a:solidFill>
              </a:rPr>
              <a:t>ChatGPT</a:t>
            </a:r>
            <a:r>
              <a:rPr lang="pt-BR" sz="2200">
                <a:solidFill>
                  <a:schemeClr val="dk1"/>
                </a:solidFill>
              </a:rPr>
              <a:t>. Disponível em:</a:t>
            </a:r>
            <a:r>
              <a:rPr lang="pt-BR" sz="22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OpenAI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descr="fatec_ra_baixada_santista_baixada_santista_rubens_lara_cor.png" id="252" name="Google Shape;2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8321" y="2329489"/>
            <a:ext cx="1972521" cy="10705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simposio_autalizado copy.png" id="253" name="Google Shape;2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3604" y="330339"/>
            <a:ext cx="2137238" cy="1422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7106" y="3787456"/>
            <a:ext cx="1394639" cy="10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255" name="Google Shape;25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68656" y="5452200"/>
            <a:ext cx="2627120" cy="1075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 cap="flat" cmpd="sng" w="9525">
            <a:solidFill>
              <a:srgbClr val="004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 cap="flat" cmpd="sng" w="9525">
            <a:solidFill>
              <a:srgbClr val="0028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simposio_autalizado copy.png" id="263" name="Google Shape;2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0509" y="256032"/>
            <a:ext cx="3179736" cy="211637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9"/>
          <p:cNvSpPr txBox="1"/>
          <p:nvPr/>
        </p:nvSpPr>
        <p:spPr>
          <a:xfrm>
            <a:off x="1484026" y="2834640"/>
            <a:ext cx="8848694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OBRIGADO(A)!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1618938" y="3657600"/>
            <a:ext cx="843946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Perguntas e Discussão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tec_ra_baixada_santista_baixada_santista_rubens_lara_cor.png" id="266" name="Google Shape;2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4519" y="487641"/>
            <a:ext cx="2277510" cy="1199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7656" y="378430"/>
            <a:ext cx="1513238" cy="997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SP-PT-HORIZONTAL.png" id="268" name="Google Shape;26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" y="127275"/>
            <a:ext cx="3710496" cy="151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CL02</dc:creator>
</cp:coreProperties>
</file>